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>
        <p:scale>
          <a:sx n="91" d="100"/>
          <a:sy n="91" d="100"/>
        </p:scale>
        <p:origin x="195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A732-2736-4522-A671-17202C0C083D}" type="datetimeFigureOut">
              <a:rPr lang="de-DE" smtClean="0"/>
              <a:t>17.05.2025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6D2E5-8328-4FAE-9B14-B79164E8E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3683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A732-2736-4522-A671-17202C0C083D}" type="datetimeFigureOut">
              <a:rPr lang="de-DE" smtClean="0"/>
              <a:t>17.05.2025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6D2E5-8328-4FAE-9B14-B79164E8E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093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A732-2736-4522-A671-17202C0C083D}" type="datetimeFigureOut">
              <a:rPr lang="de-DE" smtClean="0"/>
              <a:t>17.05.2025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6D2E5-8328-4FAE-9B14-B79164E8E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008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A732-2736-4522-A671-17202C0C083D}" type="datetimeFigureOut">
              <a:rPr lang="de-DE" smtClean="0"/>
              <a:t>17.05.2025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6D2E5-8328-4FAE-9B14-B79164E8E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777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A732-2736-4522-A671-17202C0C083D}" type="datetimeFigureOut">
              <a:rPr lang="de-DE" smtClean="0"/>
              <a:t>17.05.2025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6D2E5-8328-4FAE-9B14-B79164E8E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1556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A732-2736-4522-A671-17202C0C083D}" type="datetimeFigureOut">
              <a:rPr lang="de-DE" smtClean="0"/>
              <a:t>17.05.2025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6D2E5-8328-4FAE-9B14-B79164E8E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7447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A732-2736-4522-A671-17202C0C083D}" type="datetimeFigureOut">
              <a:rPr lang="de-DE" smtClean="0"/>
              <a:t>17.05.2025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6D2E5-8328-4FAE-9B14-B79164E8E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2547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A732-2736-4522-A671-17202C0C083D}" type="datetimeFigureOut">
              <a:rPr lang="de-DE" smtClean="0"/>
              <a:t>17.05.2025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6D2E5-8328-4FAE-9B14-B79164E8E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677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A732-2736-4522-A671-17202C0C083D}" type="datetimeFigureOut">
              <a:rPr lang="de-DE" smtClean="0"/>
              <a:t>17.05.2025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6D2E5-8328-4FAE-9B14-B79164E8E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423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A732-2736-4522-A671-17202C0C083D}" type="datetimeFigureOut">
              <a:rPr lang="de-DE" smtClean="0"/>
              <a:t>17.05.2025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6D2E5-8328-4FAE-9B14-B79164E8E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6831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A732-2736-4522-A671-17202C0C083D}" type="datetimeFigureOut">
              <a:rPr lang="de-DE" smtClean="0"/>
              <a:t>17.05.2025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6D2E5-8328-4FAE-9B14-B79164E8E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916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DA732-2736-4522-A671-17202C0C083D}" type="datetimeFigureOut">
              <a:rPr lang="de-DE" smtClean="0"/>
              <a:t>17.05.2025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6D2E5-8328-4FAE-9B14-B79164E8E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6358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Aktien-Kurs-Vorhersage 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Vorhersage von ausgewählten Aktienkursen auf Stundenbasis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5153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	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Vorstellung der Aufgabe</a:t>
            </a:r>
          </a:p>
          <a:p>
            <a:r>
              <a:rPr lang="de-DE" dirty="0" smtClean="0"/>
              <a:t>Einblick in die Stock API</a:t>
            </a:r>
          </a:p>
          <a:p>
            <a:r>
              <a:rPr lang="de-DE" dirty="0" smtClean="0"/>
              <a:t>Technologie-Stack</a:t>
            </a:r>
          </a:p>
          <a:p>
            <a:r>
              <a:rPr lang="de-DE" dirty="0" smtClean="0"/>
              <a:t>Erkenntnisse</a:t>
            </a:r>
          </a:p>
          <a:p>
            <a:r>
              <a:rPr lang="de-DE" dirty="0" smtClean="0"/>
              <a:t>Ausblick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9769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611774"/>
            <a:ext cx="10515600" cy="603416"/>
          </a:xfrm>
        </p:spPr>
        <p:txBody>
          <a:bodyPr>
            <a:normAutofit fontScale="90000"/>
          </a:bodyPr>
          <a:lstStyle/>
          <a:p>
            <a:r>
              <a:rPr lang="de-DE" dirty="0" smtClean="0"/>
              <a:t>Vorstellung der Aufgabe</a:t>
            </a:r>
            <a:br>
              <a:rPr lang="de-DE" dirty="0" smtClean="0"/>
            </a:b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215189"/>
            <a:ext cx="10515600" cy="4961774"/>
          </a:xfrm>
        </p:spPr>
        <p:txBody>
          <a:bodyPr>
            <a:normAutofit lnSpcReduction="10000"/>
          </a:bodyPr>
          <a:lstStyle/>
          <a:p>
            <a:r>
              <a:rPr lang="de-DE" sz="2400" dirty="0" smtClean="0"/>
              <a:t>Kursvorhersage für acht Aktien </a:t>
            </a:r>
          </a:p>
          <a:p>
            <a:pPr lvl="1"/>
            <a:r>
              <a:rPr lang="de-DE" sz="2000" dirty="0" smtClean="0"/>
              <a:t>"</a:t>
            </a:r>
            <a:r>
              <a:rPr lang="de-DE" sz="2000" dirty="0"/>
              <a:t>AAPL", "NVDA", "MSFT", "AMZN", "GOOGL", "TSLA", "META", "</a:t>
            </a:r>
            <a:r>
              <a:rPr lang="de-DE" sz="2000" dirty="0" smtClean="0"/>
              <a:t>NFLX„</a:t>
            </a:r>
          </a:p>
          <a:p>
            <a:r>
              <a:rPr lang="de-DE" sz="2400" dirty="0" err="1" smtClean="0"/>
              <a:t>Voratsdatenspeicherung</a:t>
            </a:r>
            <a:r>
              <a:rPr lang="de-DE" sz="2400" dirty="0" smtClean="0"/>
              <a:t> in der ersten Ausbaustufe als CSV-Files</a:t>
            </a:r>
          </a:p>
          <a:p>
            <a:r>
              <a:rPr lang="de-DE" sz="2400" dirty="0" smtClean="0"/>
              <a:t>Berechnung weiterer Features zu den abgerufenen Daten wie:</a:t>
            </a:r>
          </a:p>
          <a:p>
            <a:pPr lvl="1"/>
            <a:r>
              <a:rPr lang="de-DE" sz="2000" dirty="0" err="1" smtClean="0"/>
              <a:t>return</a:t>
            </a:r>
            <a:r>
              <a:rPr lang="de-DE" sz="2000" dirty="0" smtClean="0"/>
              <a:t>		Tagesrendite	</a:t>
            </a:r>
          </a:p>
          <a:p>
            <a:pPr lvl="1"/>
            <a:r>
              <a:rPr lang="de-DE" sz="2000" dirty="0" err="1" smtClean="0"/>
              <a:t>return_lag</a:t>
            </a:r>
            <a:r>
              <a:rPr lang="de-DE" sz="2000" dirty="0" smtClean="0"/>
              <a:t>_*	Vergangene Tagesrenditen	</a:t>
            </a:r>
          </a:p>
          <a:p>
            <a:pPr lvl="1"/>
            <a:r>
              <a:rPr lang="de-DE" sz="2000" dirty="0" err="1" smtClean="0"/>
              <a:t>close_lag</a:t>
            </a:r>
            <a:r>
              <a:rPr lang="de-DE" sz="2000" dirty="0" smtClean="0"/>
              <a:t>_*	Schlusskurs der Vor-Tage	</a:t>
            </a:r>
          </a:p>
          <a:p>
            <a:pPr lvl="1"/>
            <a:r>
              <a:rPr lang="de-DE" sz="2000" dirty="0" smtClean="0"/>
              <a:t>*_</a:t>
            </a:r>
            <a:r>
              <a:rPr lang="de-DE" sz="2000" dirty="0" err="1" smtClean="0"/>
              <a:t>mean</a:t>
            </a:r>
            <a:r>
              <a:rPr lang="de-DE" sz="2000" dirty="0" smtClean="0"/>
              <a:t>_*		Gleitende Durchschnitte	</a:t>
            </a:r>
          </a:p>
          <a:p>
            <a:pPr lvl="1"/>
            <a:r>
              <a:rPr lang="de-DE" sz="2000" dirty="0" smtClean="0"/>
              <a:t>*_</a:t>
            </a:r>
            <a:r>
              <a:rPr lang="de-DE" sz="2000" dirty="0" err="1" smtClean="0"/>
              <a:t>std</a:t>
            </a:r>
            <a:r>
              <a:rPr lang="de-DE" sz="2000" dirty="0" smtClean="0"/>
              <a:t>_*		Gleitende Volatilität (Standardabweichung)	</a:t>
            </a:r>
            <a:endParaRPr lang="de-DE" dirty="0"/>
          </a:p>
          <a:p>
            <a:r>
              <a:rPr lang="de-DE" sz="2400" dirty="0" smtClean="0"/>
              <a:t>Modeltraining </a:t>
            </a:r>
            <a:r>
              <a:rPr lang="de-DE" sz="2400" dirty="0" err="1" smtClean="0"/>
              <a:t>LightGBM</a:t>
            </a:r>
            <a:endParaRPr lang="de-DE" sz="2400" dirty="0" smtClean="0"/>
          </a:p>
          <a:p>
            <a:r>
              <a:rPr lang="de-DE" sz="2400" dirty="0" smtClean="0"/>
              <a:t>Aktienkursvorhersage</a:t>
            </a:r>
          </a:p>
          <a:p>
            <a:r>
              <a:rPr lang="de-DE" sz="2400" dirty="0"/>
              <a:t>Bereitstellung der Kursvorhersage über API</a:t>
            </a:r>
          </a:p>
          <a:p>
            <a:r>
              <a:rPr lang="de-DE" sz="2400" dirty="0" smtClean="0"/>
              <a:t>Modelevaluierung und Monitoring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807154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Einblick in die Stock API</a:t>
            </a:r>
            <a:br>
              <a:rPr lang="de-DE" dirty="0" smtClean="0"/>
            </a:b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dirty="0" smtClean="0"/>
              <a:t>Wahl der passenden API</a:t>
            </a:r>
          </a:p>
          <a:p>
            <a:r>
              <a:rPr lang="de-DE" sz="2000" dirty="0" smtClean="0"/>
              <a:t>Yahoo </a:t>
            </a:r>
            <a:r>
              <a:rPr lang="de-DE" sz="2000" dirty="0" err="1" smtClean="0"/>
              <a:t>Finance</a:t>
            </a:r>
            <a:r>
              <a:rPr lang="de-DE" sz="2000" dirty="0" smtClean="0"/>
              <a:t> (5 </a:t>
            </a:r>
            <a:r>
              <a:rPr lang="de-DE" sz="2000" dirty="0" err="1" smtClean="0"/>
              <a:t>jahre</a:t>
            </a:r>
            <a:r>
              <a:rPr lang="de-DE" sz="2000" dirty="0" smtClean="0"/>
              <a:t> </a:t>
            </a:r>
            <a:r>
              <a:rPr lang="de-DE" sz="2000" dirty="0" err="1" smtClean="0"/>
              <a:t>histData</a:t>
            </a:r>
            <a:r>
              <a:rPr lang="de-DE" sz="2000" dirty="0" smtClean="0"/>
              <a:t>, </a:t>
            </a:r>
            <a:r>
              <a:rPr lang="de-DE" sz="2000" dirty="0" err="1" smtClean="0"/>
              <a:t>realdata</a:t>
            </a:r>
            <a:r>
              <a:rPr lang="de-DE" sz="2000" dirty="0"/>
              <a:t>)</a:t>
            </a:r>
          </a:p>
          <a:p>
            <a:r>
              <a:rPr lang="de-DE" sz="2000" dirty="0" err="1" smtClean="0"/>
              <a:t>Finnhub</a:t>
            </a:r>
            <a:r>
              <a:rPr lang="de-DE" sz="2000" dirty="0" smtClean="0"/>
              <a:t> </a:t>
            </a:r>
            <a:r>
              <a:rPr lang="de-DE" sz="2000" dirty="0" smtClean="0"/>
              <a:t>(5 </a:t>
            </a:r>
            <a:r>
              <a:rPr lang="de-DE" sz="2000" dirty="0" err="1" smtClean="0"/>
              <a:t>jahre</a:t>
            </a:r>
            <a:r>
              <a:rPr lang="de-DE" sz="2000" dirty="0" smtClean="0"/>
              <a:t> </a:t>
            </a:r>
            <a:r>
              <a:rPr lang="de-DE" sz="2000" dirty="0" err="1" smtClean="0"/>
              <a:t>histData</a:t>
            </a:r>
            <a:r>
              <a:rPr lang="de-DE" sz="2000" dirty="0" smtClean="0"/>
              <a:t>, </a:t>
            </a:r>
            <a:r>
              <a:rPr lang="de-DE" sz="2000" dirty="0" err="1" smtClean="0"/>
              <a:t>realdata</a:t>
            </a:r>
            <a:r>
              <a:rPr lang="de-DE" sz="2000" dirty="0" smtClean="0"/>
              <a:t>, keine Volumendaten im </a:t>
            </a:r>
            <a:r>
              <a:rPr lang="de-DE" sz="2000" dirty="0" err="1" smtClean="0"/>
              <a:t>freeTier</a:t>
            </a:r>
            <a:r>
              <a:rPr lang="de-DE" sz="2000" dirty="0" smtClean="0"/>
              <a:t>)</a:t>
            </a:r>
            <a:endParaRPr lang="de-DE" sz="2000" dirty="0"/>
          </a:p>
          <a:p>
            <a:r>
              <a:rPr lang="de-DE" sz="2000" dirty="0" err="1" smtClean="0"/>
              <a:t>Twelve</a:t>
            </a:r>
            <a:r>
              <a:rPr lang="de-DE" sz="2000" dirty="0" smtClean="0"/>
              <a:t> Data (</a:t>
            </a:r>
            <a:r>
              <a:rPr lang="de-DE" sz="2000" dirty="0" smtClean="0"/>
              <a:t>2 </a:t>
            </a:r>
            <a:r>
              <a:rPr lang="de-DE" sz="2000" dirty="0" err="1" smtClean="0"/>
              <a:t>jahre</a:t>
            </a:r>
            <a:r>
              <a:rPr lang="de-DE" sz="2000" dirty="0" smtClean="0"/>
              <a:t> </a:t>
            </a:r>
            <a:r>
              <a:rPr lang="de-DE" sz="2000" dirty="0" err="1" smtClean="0"/>
              <a:t>histData</a:t>
            </a:r>
            <a:r>
              <a:rPr lang="de-DE" sz="2000" dirty="0" smtClean="0"/>
              <a:t>, </a:t>
            </a:r>
            <a:r>
              <a:rPr lang="de-DE" sz="2000" dirty="0" err="1" smtClean="0"/>
              <a:t>realdata</a:t>
            </a:r>
            <a:r>
              <a:rPr lang="de-DE" sz="2000" dirty="0" smtClean="0"/>
              <a:t>)</a:t>
            </a:r>
            <a:endParaRPr lang="de-DE" sz="2000" dirty="0"/>
          </a:p>
          <a:p>
            <a:pPr marL="0" indent="0">
              <a:buNone/>
            </a:pPr>
            <a:endParaRPr lang="de-DE" sz="2400" dirty="0" smtClean="0"/>
          </a:p>
          <a:p>
            <a:pPr marL="0" indent="0">
              <a:buNone/>
            </a:pPr>
            <a:r>
              <a:rPr lang="de-DE" sz="2400" dirty="0" smtClean="0"/>
              <a:t>Was </a:t>
            </a:r>
            <a:r>
              <a:rPr lang="de-DE" sz="2400" dirty="0"/>
              <a:t>ist die </a:t>
            </a:r>
            <a:r>
              <a:rPr lang="de-DE" sz="2400" dirty="0" err="1"/>
              <a:t>Twelve</a:t>
            </a:r>
            <a:r>
              <a:rPr lang="de-DE" sz="2400" dirty="0"/>
              <a:t> Data API?</a:t>
            </a:r>
          </a:p>
          <a:p>
            <a:r>
              <a:rPr lang="de-DE" sz="2000" dirty="0" smtClean="0"/>
              <a:t>Die </a:t>
            </a:r>
            <a:r>
              <a:rPr lang="de-DE" sz="2000" dirty="0" err="1"/>
              <a:t>Twelve</a:t>
            </a:r>
            <a:r>
              <a:rPr lang="de-DE" sz="2000" dirty="0"/>
              <a:t> Data API ist ein Online-Dienst, </a:t>
            </a:r>
            <a:r>
              <a:rPr lang="de-DE" sz="2000" dirty="0" smtClean="0"/>
              <a:t>der Börsendaten bereitstellt </a:t>
            </a:r>
          </a:p>
          <a:p>
            <a:r>
              <a:rPr lang="de-DE" sz="2000" dirty="0" smtClean="0"/>
              <a:t>Aktuelle </a:t>
            </a:r>
            <a:r>
              <a:rPr lang="de-DE" sz="2000" dirty="0"/>
              <a:t>und historische Kurse abrufen (Open, High, Low, Close, </a:t>
            </a:r>
            <a:r>
              <a:rPr lang="de-DE" sz="2000" dirty="0" smtClean="0"/>
              <a:t>Volume)</a:t>
            </a:r>
          </a:p>
          <a:p>
            <a:r>
              <a:rPr lang="de-DE" sz="2000" dirty="0" smtClean="0"/>
              <a:t>Daten </a:t>
            </a:r>
            <a:r>
              <a:rPr lang="de-DE" sz="2000" dirty="0"/>
              <a:t>in verschiedenen Zeitabständen bekommen (z. </a:t>
            </a:r>
            <a:r>
              <a:rPr lang="de-DE" sz="2000" dirty="0"/>
              <a:t>B. </a:t>
            </a:r>
            <a:r>
              <a:rPr lang="de-DE" sz="2000" dirty="0"/>
              <a:t>1min, 1h, </a:t>
            </a:r>
            <a:r>
              <a:rPr lang="de-DE" sz="2000" dirty="0" smtClean="0"/>
              <a:t>täglich)</a:t>
            </a:r>
          </a:p>
          <a:p>
            <a:r>
              <a:rPr lang="de-DE" sz="2000" dirty="0" smtClean="0"/>
              <a:t>Weitere technische </a:t>
            </a:r>
            <a:r>
              <a:rPr lang="de-DE" sz="2000" dirty="0"/>
              <a:t>Indikatoren </a:t>
            </a:r>
            <a:r>
              <a:rPr lang="de-DE" sz="2000" dirty="0" smtClean="0"/>
              <a:t>und Realtime-Daten </a:t>
            </a:r>
            <a:r>
              <a:rPr lang="de-DE" sz="2000" dirty="0"/>
              <a:t>(je nach Abo)</a:t>
            </a:r>
          </a:p>
        </p:txBody>
      </p:sp>
    </p:spTree>
    <p:extLst>
      <p:ext uri="{BB962C8B-B14F-4D97-AF65-F5344CB8AC3E}">
        <p14:creationId xmlns:p14="http://schemas.microsoft.com/office/powerpoint/2010/main" val="437480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Technologie-Stack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Datenbeschaffung 			     </a:t>
            </a:r>
            <a:r>
              <a:rPr lang="de-DE" dirty="0" smtClean="0">
                <a:sym typeface="Wingdings" panose="05000000000000000000" pitchFamily="2" charset="2"/>
              </a:rPr>
              <a:t> </a:t>
            </a:r>
            <a:r>
              <a:rPr lang="de-DE" dirty="0" err="1" smtClean="0">
                <a:sym typeface="Wingdings" panose="05000000000000000000" pitchFamily="2" charset="2"/>
              </a:rPr>
              <a:t>Airflow</a:t>
            </a:r>
            <a:r>
              <a:rPr lang="de-DE" dirty="0" smtClean="0">
                <a:sym typeface="Wingdings" panose="05000000000000000000" pitchFamily="2" charset="2"/>
              </a:rPr>
              <a:t> DAG</a:t>
            </a:r>
            <a:endParaRPr lang="de-DE" dirty="0" smtClean="0"/>
          </a:p>
          <a:p>
            <a:r>
              <a:rPr lang="de-DE" dirty="0" err="1" smtClean="0"/>
              <a:t>Datenvoratsspeicherung</a:t>
            </a:r>
            <a:r>
              <a:rPr lang="de-DE" dirty="0" smtClean="0"/>
              <a:t> 		     </a:t>
            </a:r>
            <a:r>
              <a:rPr lang="de-DE" dirty="0" smtClean="0">
                <a:sym typeface="Wingdings" panose="05000000000000000000" pitchFamily="2" charset="2"/>
              </a:rPr>
              <a:t> </a:t>
            </a:r>
            <a:r>
              <a:rPr lang="de-DE" dirty="0" err="1" smtClean="0">
                <a:sym typeface="Wingdings" panose="05000000000000000000" pitchFamily="2" charset="2"/>
              </a:rPr>
              <a:t>Airflov</a:t>
            </a:r>
            <a:r>
              <a:rPr lang="de-DE" dirty="0" smtClean="0">
                <a:sym typeface="Wingdings" panose="05000000000000000000" pitchFamily="2" charset="2"/>
              </a:rPr>
              <a:t> DAG, CSV</a:t>
            </a:r>
            <a:endParaRPr lang="de-DE" dirty="0" smtClean="0"/>
          </a:p>
          <a:p>
            <a:r>
              <a:rPr lang="de-DE" dirty="0" smtClean="0"/>
              <a:t>Feature-</a:t>
            </a:r>
            <a:r>
              <a:rPr lang="de-DE" dirty="0" err="1" smtClean="0"/>
              <a:t>development</a:t>
            </a:r>
            <a:r>
              <a:rPr lang="de-DE" dirty="0" smtClean="0"/>
              <a:t> 			     </a:t>
            </a:r>
            <a:r>
              <a:rPr lang="de-DE" dirty="0" smtClean="0">
                <a:sym typeface="Wingdings" panose="05000000000000000000" pitchFamily="2" charset="2"/>
              </a:rPr>
              <a:t></a:t>
            </a:r>
            <a:r>
              <a:rPr lang="de-DE" dirty="0" smtClean="0"/>
              <a:t> </a:t>
            </a:r>
            <a:r>
              <a:rPr lang="de-DE" dirty="0" err="1" smtClean="0"/>
              <a:t>Airflow</a:t>
            </a:r>
            <a:r>
              <a:rPr lang="de-DE" dirty="0" smtClean="0"/>
              <a:t> DAG</a:t>
            </a:r>
          </a:p>
          <a:p>
            <a:r>
              <a:rPr lang="de-DE" dirty="0" smtClean="0"/>
              <a:t>Model Training 				     </a:t>
            </a:r>
            <a:r>
              <a:rPr lang="de-DE" dirty="0" smtClean="0">
                <a:sym typeface="Wingdings" panose="05000000000000000000" pitchFamily="2" charset="2"/>
              </a:rPr>
              <a:t> </a:t>
            </a:r>
            <a:r>
              <a:rPr lang="de-DE" dirty="0" err="1" smtClean="0">
                <a:sym typeface="Wingdings" panose="05000000000000000000" pitchFamily="2" charset="2"/>
              </a:rPr>
              <a:t>Airflow</a:t>
            </a:r>
            <a:r>
              <a:rPr lang="de-DE" dirty="0" smtClean="0">
                <a:sym typeface="Wingdings" panose="05000000000000000000" pitchFamily="2" charset="2"/>
              </a:rPr>
              <a:t> DAG</a:t>
            </a:r>
            <a:endParaRPr lang="de-DE" dirty="0" smtClean="0"/>
          </a:p>
          <a:p>
            <a:r>
              <a:rPr lang="de-DE" dirty="0" smtClean="0"/>
              <a:t>Aktienkursvorhersagen 			     </a:t>
            </a:r>
            <a:r>
              <a:rPr lang="de-DE" dirty="0" smtClean="0">
                <a:sym typeface="Wingdings" panose="05000000000000000000" pitchFamily="2" charset="2"/>
              </a:rPr>
              <a:t> </a:t>
            </a:r>
            <a:r>
              <a:rPr lang="de-DE" dirty="0" err="1" smtClean="0">
                <a:sym typeface="Wingdings" panose="05000000000000000000" pitchFamily="2" charset="2"/>
              </a:rPr>
              <a:t>Dairflow</a:t>
            </a:r>
            <a:r>
              <a:rPr lang="de-DE" dirty="0" smtClean="0">
                <a:sym typeface="Wingdings" panose="05000000000000000000" pitchFamily="2" charset="2"/>
              </a:rPr>
              <a:t> DAG</a:t>
            </a:r>
            <a:endParaRPr lang="de-DE" dirty="0" smtClean="0"/>
          </a:p>
          <a:p>
            <a:r>
              <a:rPr lang="de-DE" dirty="0" smtClean="0"/>
              <a:t>API zur Bereitstellung der Vorhersagen </a:t>
            </a:r>
            <a:r>
              <a:rPr lang="de-DE" dirty="0" smtClean="0">
                <a:sym typeface="Wingdings" panose="05000000000000000000" pitchFamily="2" charset="2"/>
              </a:rPr>
              <a:t> </a:t>
            </a:r>
            <a:r>
              <a:rPr lang="de-DE" dirty="0" err="1" smtClean="0">
                <a:sym typeface="Wingdings" panose="05000000000000000000" pitchFamily="2" charset="2"/>
              </a:rPr>
              <a:t>FastAPI</a:t>
            </a:r>
            <a:endParaRPr lang="de-DE" dirty="0" smtClean="0"/>
          </a:p>
          <a:p>
            <a:r>
              <a:rPr lang="de-DE" dirty="0" smtClean="0"/>
              <a:t>Monitoring 				     </a:t>
            </a:r>
            <a:r>
              <a:rPr lang="de-DE" dirty="0" smtClean="0">
                <a:sym typeface="Wingdings" panose="05000000000000000000" pitchFamily="2" charset="2"/>
              </a:rPr>
              <a:t> </a:t>
            </a:r>
            <a:r>
              <a:rPr lang="de-DE" dirty="0" err="1" smtClean="0">
                <a:sym typeface="Wingdings" panose="05000000000000000000" pitchFamily="2" charset="2"/>
              </a:rPr>
              <a:t>MLFlow</a:t>
            </a:r>
            <a:endParaRPr lang="de-DE" dirty="0" smtClean="0">
              <a:sym typeface="Wingdings" panose="05000000000000000000" pitchFamily="2" charset="2"/>
            </a:endParaRPr>
          </a:p>
          <a:p>
            <a:r>
              <a:rPr lang="de-DE" dirty="0" err="1" smtClean="0">
                <a:sym typeface="Wingdings" panose="05000000000000000000" pitchFamily="2" charset="2"/>
              </a:rPr>
              <a:t>Deployement</a:t>
            </a:r>
            <a:r>
              <a:rPr lang="de-DE" dirty="0" smtClean="0">
                <a:sym typeface="Wingdings" panose="05000000000000000000" pitchFamily="2" charset="2"/>
              </a:rPr>
              <a:t> 				      Server auf </a:t>
            </a:r>
            <a:r>
              <a:rPr lang="de-DE" dirty="0" err="1" smtClean="0">
                <a:sym typeface="Wingdings" panose="05000000000000000000" pitchFamily="2" charset="2"/>
              </a:rPr>
              <a:t>Hetzner</a:t>
            </a:r>
            <a:r>
              <a:rPr lang="de-DE" dirty="0" smtClean="0">
                <a:sym typeface="Wingdings" panose="05000000000000000000" pitchFamily="2" charset="2"/>
              </a:rPr>
              <a:t> Cloud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86707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Erkenntnisse</a:t>
            </a:r>
            <a:br>
              <a:rPr lang="de-DE" dirty="0" smtClean="0"/>
            </a:b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167063"/>
            <a:ext cx="10515600" cy="5009900"/>
          </a:xfrm>
        </p:spPr>
        <p:txBody>
          <a:bodyPr>
            <a:normAutofit/>
          </a:bodyPr>
          <a:lstStyle/>
          <a:p>
            <a:r>
              <a:rPr lang="de-DE" sz="2000" dirty="0" smtClean="0"/>
              <a:t>Verwendung von </a:t>
            </a:r>
            <a:r>
              <a:rPr lang="de-DE" sz="2000" dirty="0" err="1" smtClean="0"/>
              <a:t>yfinance-api</a:t>
            </a:r>
            <a:r>
              <a:rPr lang="de-DE" sz="2000" dirty="0" smtClean="0"/>
              <a:t> ohne </a:t>
            </a:r>
            <a:r>
              <a:rPr lang="de-DE" sz="2000" dirty="0" err="1" smtClean="0"/>
              <a:t>ip</a:t>
            </a:r>
            <a:r>
              <a:rPr lang="de-DE" sz="2000" dirty="0" smtClean="0"/>
              <a:t> Verschleierung führte zu </a:t>
            </a:r>
            <a:r>
              <a:rPr lang="de-DE" sz="2000" dirty="0" err="1" smtClean="0"/>
              <a:t>ip</a:t>
            </a:r>
            <a:r>
              <a:rPr lang="de-DE" sz="2000" dirty="0" smtClean="0"/>
              <a:t> Sperrung, Verwendung von User-</a:t>
            </a:r>
            <a:r>
              <a:rPr lang="de-DE" sz="2000" dirty="0" err="1" smtClean="0"/>
              <a:t>Agents</a:t>
            </a:r>
            <a:r>
              <a:rPr lang="de-DE" sz="2000" dirty="0" smtClean="0"/>
              <a:t> oder TOR ohne Erfolg</a:t>
            </a:r>
          </a:p>
          <a:p>
            <a:r>
              <a:rPr lang="de-DE" sz="2000" dirty="0" smtClean="0"/>
              <a:t>Verwendung der </a:t>
            </a:r>
            <a:r>
              <a:rPr lang="de-DE" sz="2000" dirty="0" err="1" smtClean="0"/>
              <a:t>TwelveData</a:t>
            </a:r>
            <a:r>
              <a:rPr lang="de-DE" sz="2000" dirty="0" smtClean="0"/>
              <a:t> </a:t>
            </a:r>
            <a:r>
              <a:rPr lang="de-DE" sz="2000" dirty="0" err="1" smtClean="0"/>
              <a:t>Api</a:t>
            </a:r>
            <a:r>
              <a:rPr lang="de-DE" sz="2000" dirty="0" smtClean="0"/>
              <a:t>, unter Verwendung von:</a:t>
            </a:r>
          </a:p>
          <a:p>
            <a:pPr lvl="1"/>
            <a:r>
              <a:rPr lang="de-DE" sz="1800" dirty="0" smtClean="0"/>
              <a:t>Rotierende User-</a:t>
            </a:r>
            <a:r>
              <a:rPr lang="de-DE" sz="1800" dirty="0" err="1" smtClean="0"/>
              <a:t>Agents</a:t>
            </a:r>
            <a:r>
              <a:rPr lang="de-DE" sz="1800" dirty="0" smtClean="0"/>
              <a:t> (laufender Wechsel des Decknamens z.B. Chrome auf Windows oder Chrom auf Mac)</a:t>
            </a:r>
          </a:p>
          <a:p>
            <a:r>
              <a:rPr lang="de-DE" sz="2000" dirty="0" smtClean="0"/>
              <a:t>Debugging auf </a:t>
            </a:r>
            <a:r>
              <a:rPr lang="de-DE" sz="2000" dirty="0" err="1" smtClean="0"/>
              <a:t>Airflow</a:t>
            </a:r>
            <a:r>
              <a:rPr lang="de-DE" sz="2000" dirty="0" smtClean="0"/>
              <a:t> ist sehr </a:t>
            </a:r>
            <a:r>
              <a:rPr lang="de-DE" sz="2000" dirty="0" err="1" smtClean="0"/>
              <a:t>schwiering</a:t>
            </a:r>
            <a:endParaRPr lang="de-DE" sz="2000" dirty="0" smtClean="0"/>
          </a:p>
          <a:p>
            <a:r>
              <a:rPr lang="de-DE" sz="2000" dirty="0" smtClean="0"/>
              <a:t>Verwendete Sprachmodelle (GPT, Claude.ai)</a:t>
            </a:r>
          </a:p>
          <a:p>
            <a:pPr marL="0" indent="0">
              <a:buNone/>
            </a:pPr>
            <a:r>
              <a:rPr lang="de-DE" sz="2000" dirty="0" smtClean="0"/>
              <a:t>Beim Troubleshooting sind Komponenten entfernt worden.</a:t>
            </a:r>
          </a:p>
          <a:p>
            <a:pPr marL="0" indent="0">
              <a:buNone/>
            </a:pPr>
            <a:r>
              <a:rPr lang="de-DE" sz="2000" dirty="0" smtClean="0"/>
              <a:t>z.B. </a:t>
            </a:r>
          </a:p>
          <a:p>
            <a:pPr marL="0" indent="0">
              <a:buNone/>
            </a:pPr>
            <a:endParaRPr lang="de-DE" sz="2000" dirty="0"/>
          </a:p>
          <a:p>
            <a:r>
              <a:rPr lang="de-DE" sz="2000" dirty="0" smtClean="0"/>
              <a:t>Durch die </a:t>
            </a:r>
            <a:r>
              <a:rPr lang="de-DE" sz="2000" dirty="0" err="1" smtClean="0"/>
              <a:t>eliminierung</a:t>
            </a:r>
            <a:r>
              <a:rPr lang="de-DE" sz="2000" dirty="0" smtClean="0"/>
              <a:t> der berechneten Features wurde neue </a:t>
            </a:r>
            <a:r>
              <a:rPr lang="de-DE" sz="2000" dirty="0" err="1" smtClean="0"/>
              <a:t>Gesmmt</a:t>
            </a:r>
            <a:r>
              <a:rPr lang="de-DE" sz="2000" dirty="0" smtClean="0"/>
              <a:t> CSV angelegt, </a:t>
            </a:r>
            <a:r>
              <a:rPr lang="de-DE" sz="2000" dirty="0" err="1" smtClean="0"/>
              <a:t>TwelvData</a:t>
            </a:r>
            <a:r>
              <a:rPr lang="de-DE" sz="2000" dirty="0" smtClean="0"/>
              <a:t> </a:t>
            </a:r>
            <a:r>
              <a:rPr lang="de-DE" sz="2000" dirty="0" err="1" smtClean="0"/>
              <a:t>Api</a:t>
            </a:r>
            <a:r>
              <a:rPr lang="de-DE" sz="2000" dirty="0" smtClean="0"/>
              <a:t> geht aber nur 2 Jahre in die Historien entgegen </a:t>
            </a:r>
            <a:r>
              <a:rPr lang="de-DE" sz="2000" dirty="0" err="1" smtClean="0"/>
              <a:t>yfinance</a:t>
            </a:r>
            <a:r>
              <a:rPr lang="de-DE" sz="2000" dirty="0" smtClean="0"/>
              <a:t>.</a:t>
            </a:r>
            <a:endParaRPr lang="de-DE" sz="200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577" y="3119239"/>
            <a:ext cx="2454441" cy="149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390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</a:t>
            </a:r>
            <a:r>
              <a:rPr lang="de-DE" dirty="0" smtClean="0"/>
              <a:t>usblick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Bereitstellung einer APP zur Visualisierung</a:t>
            </a:r>
          </a:p>
          <a:p>
            <a:r>
              <a:rPr lang="de-DE" dirty="0" smtClean="0"/>
              <a:t>Implementierung einer dynamischen Aktienauswahl</a:t>
            </a:r>
          </a:p>
          <a:p>
            <a:r>
              <a:rPr lang="de-DE" dirty="0" smtClean="0"/>
              <a:t>Implementierung weiterer Features, idealerweise Finanznachrichten </a:t>
            </a:r>
          </a:p>
          <a:p>
            <a:r>
              <a:rPr lang="de-DE" dirty="0" smtClean="0"/>
              <a:t>Auswahl und Training weiterer ML Modelle </a:t>
            </a:r>
          </a:p>
          <a:p>
            <a:r>
              <a:rPr lang="de-DE" dirty="0" smtClean="0"/>
              <a:t>Vorratsdatenspeicherung in einer Datenbank (</a:t>
            </a:r>
            <a:r>
              <a:rPr lang="de-DE" dirty="0" err="1" smtClean="0"/>
              <a:t>Datalake</a:t>
            </a:r>
            <a:r>
              <a:rPr lang="de-DE" dirty="0" smtClean="0"/>
              <a:t>)</a:t>
            </a:r>
          </a:p>
          <a:p>
            <a:r>
              <a:rPr lang="de-DE" dirty="0" err="1" smtClean="0"/>
              <a:t>Deployement</a:t>
            </a:r>
            <a:r>
              <a:rPr lang="de-DE" dirty="0" smtClean="0"/>
              <a:t> mit Docker</a:t>
            </a:r>
          </a:p>
          <a:p>
            <a:r>
              <a:rPr lang="de-DE" dirty="0" smtClean="0"/>
              <a:t>Aufbau einer CI/CD Pipeline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6693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</Words>
  <Application>Microsoft Office PowerPoint</Application>
  <PresentationFormat>Breitbild</PresentationFormat>
  <Paragraphs>60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</vt:lpstr>
      <vt:lpstr>Aktien-Kurs-Vorhersage </vt:lpstr>
      <vt:lpstr>Agenda </vt:lpstr>
      <vt:lpstr>Vorstellung der Aufgabe </vt:lpstr>
      <vt:lpstr>Einblick in die Stock API </vt:lpstr>
      <vt:lpstr>Technologie-Stack</vt:lpstr>
      <vt:lpstr>Erkenntnisse </vt:lpstr>
      <vt:lpstr>Ausblick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Stockperdiction </dc:title>
  <dc:creator>Elvir Ibrahimovic</dc:creator>
  <cp:lastModifiedBy>Elvir Ibrahimovic</cp:lastModifiedBy>
  <cp:revision>26</cp:revision>
  <dcterms:created xsi:type="dcterms:W3CDTF">2025-05-17T07:03:31Z</dcterms:created>
  <dcterms:modified xsi:type="dcterms:W3CDTF">2025-05-17T09:52:59Z</dcterms:modified>
</cp:coreProperties>
</file>